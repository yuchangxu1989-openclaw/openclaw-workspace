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37160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OpenClaw 产品洞察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CCCCC"/>
                </a:solidFill>
                <a:latin typeface="Microsoft YaHei"/>
              </a:defRPr>
            </a:pPr>
            <a:r>
              <a:t>从"AI工具"到"AI同事"的范式跃迁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AA"/>
                </a:solidFill>
                <a:latin typeface="Microsoft YaHei"/>
              </a:defRPr>
            </a:pPr>
            <a:r>
              <a:t>版本 V3b ｜ 2026年3月 ｜ 高管汇报级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788"/>
                </a:solidFill>
                <a:latin typeface="Microsoft YaHei"/>
              </a:defRPr>
            </a:pPr>
            <a:r>
              <a:t>Claude Opus 4 · coder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D233E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828800" cy="381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821D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233E"/>
                </a:solidFill>
                <a:latin typeface="Microsoft YaHei"/>
              </a:defRPr>
            </a:pPr>
            <a:r>
              <a:t>产品定位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31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从"AI工具"到"AI同事"的范式跃迁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821D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233E"/>
                </a:solidFill>
                <a:latin typeface="Microsoft YaHei"/>
              </a:defRPr>
            </a:pPr>
            <a:r>
              <a:t>场景分析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063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从开发者玩具到生活基础设施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821D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233E"/>
                </a:solidFill>
                <a:latin typeface="Microsoft YaHei"/>
              </a:defRPr>
            </a:pPr>
            <a:r>
              <a:t>用户粘性与社区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794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为什么用过的人回不去了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821D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233E"/>
                </a:solidFill>
                <a:latin typeface="Microsoft YaHei"/>
              </a:defRPr>
            </a:pPr>
            <a:r>
              <a:t>能力边界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526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LLM的"物理学"与"外骨骼"策略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821D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233E"/>
                </a:solidFill>
                <a:latin typeface="Microsoft YaHei"/>
              </a:defRPr>
            </a:pPr>
            <a:r>
              <a:t>未来展望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257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路线图与关键风险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692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821D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233E"/>
                </a:solidFill>
                <a:latin typeface="Microsoft YaHei"/>
              </a:defRPr>
            </a:pPr>
            <a:r>
              <a:t>对vivo的启示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"AI硬件伴侣"——被忽视的路径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0821D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产品定位</a:t>
            </a:r>
            <a:br/>
            <a:r>
              <a:t>从"AI工具"到"AI同事"的范式跃迁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37160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CCDD"/>
                </a:solidFill>
                <a:latin typeface="Microsoft YaHei"/>
              </a:defRPr>
            </a:pPr>
            <a:r>
              <a:t>OpenClaw不是又一个AI聊天机器人，而是全球首个</a:t>
            </a:r>
            <a:br/>
            <a:r>
              <a:t>"个人AI操作系统网关"——让AI从被动工具变成主动同事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33E"/>
                </a:solidFill>
                <a:latin typeface="Microsoft YaHei"/>
              </a:defRPr>
            </a:pPr>
            <a:r>
              <a:t>精确定位：四象限坐标系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484632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5C"/>
                </a:solidFill>
                <a:latin typeface="Microsoft YaHei"/>
              </a:defRPr>
            </a:pPr>
            <a:r>
              <a:t>开发者工具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Claude Code / Cursor / Copilot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需要编程能力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服务代码生产场景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484632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5C"/>
                </a:solidFill>
                <a:latin typeface="Microsoft YaHei"/>
              </a:defRPr>
            </a:pPr>
            <a:r>
              <a:t>普通用户工具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ChatGPT / Gemini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对话界面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功能限于问答，无法"做事"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57600"/>
            <a:ext cx="484632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5C"/>
                </a:solidFill>
                <a:latin typeface="Microsoft YaHei"/>
              </a:defRPr>
            </a:pPr>
            <a:r>
              <a:t>编排框架/自主实验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LangChain / CrewAI / AutoGPT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面向开发者的构建工具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目标宏大但可靠性不足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657600"/>
            <a:ext cx="4846320" cy="2011680"/>
          </a:xfrm>
          <a:prstGeom prst="rect">
            <a:avLst/>
          </a:prstGeom>
          <a:solidFill>
            <a:srgbClr val="FFF3E0"/>
          </a:solidFill>
          <a:ln w="25400">
            <a:solidFill>
              <a:srgbClr val="F082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8404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821D"/>
                </a:solidFill>
                <a:latin typeface="Microsoft YaHei"/>
              </a:defRPr>
            </a:pPr>
            <a:r>
              <a:t>🟠 OpenClaw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29768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既有聊天渠道接入 · 零学习成本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24/7持久记忆 · 主动行为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邮件+日历+设备+文件+浏览器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33E"/>
                </a:solidFill>
                <a:latin typeface="Microsoft YaHei"/>
              </a:defRPr>
            </a:pPr>
            <a:r>
              <a:t>三个"第一次"——变革性论证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821D"/>
                </a:solidFill>
                <a:latin typeface="Microsoft YaHei"/>
              </a:defRPr>
            </a:pPr>
            <a:r>
              <a:t>第一次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233E"/>
                </a:solidFill>
                <a:latin typeface="Microsoft YaHei"/>
              </a:defRPr>
            </a:pPr>
            <a:r>
              <a:t>自然存在感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通过WhatsApp/Telegram/Discord等既有聊天渠道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消除"打开AI工具"这个动作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AI成为通讯录里的"联系人"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371600"/>
            <a:ext cx="338328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38328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6459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821D"/>
                </a:solidFill>
                <a:latin typeface="Microsoft YaHei"/>
              </a:defRPr>
            </a:pPr>
            <a:r>
              <a:t>第一次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011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233E"/>
                </a:solidFill>
                <a:latin typeface="Microsoft YaHei"/>
              </a:defRPr>
            </a:pPr>
            <a:r>
              <a:t>连续自我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7432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MEMORY.md + SOUL.md 持久记忆与人格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用户关系从工具调用变为日积月累的"相处"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切换成本 ≈ 换掉一个懂你的人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38328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38328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6459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821D"/>
                </a:solidFill>
                <a:latin typeface="Microsoft YaHei"/>
              </a:defRPr>
            </a:pPr>
            <a:r>
              <a:t>第一次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011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233E"/>
                </a:solidFill>
                <a:latin typeface="Microsoft YaHei"/>
              </a:defRPr>
            </a:pPr>
            <a:r>
              <a:t>行动力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7432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心跳机制 · cron定时任务 · 后台Agent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不在时主动：检查邮件、监控日程、响应事件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从"响应式助手"到"主动式同事"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33E"/>
                </a:solidFill>
                <a:latin typeface="Microsoft YaHei"/>
              </a:defRPr>
            </a:pPr>
            <a:r>
              <a:t>社区真实声音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188720"/>
            <a:ext cx="50800" cy="13716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280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"Setup OpenClaw yesterday. All I have to say is, wow...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The future is already here."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—— @jonahships_，X/Twitter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926080"/>
            <a:ext cx="50800" cy="13716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017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"Even if LLMs suddenly stopped improving, we could spend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years discovering new transformative uses. OpenClaw feels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like that kind of leap forward."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—— @markjaquith，X/Twitter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663440"/>
            <a:ext cx="50800" cy="13716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754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"Personal AI assistant undersells it — it's a company assistant,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family assistant, team tool. Proactive AF. Memory is amazing,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context persists 24/7."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852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—— @danpeguine，X/Twitter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0821D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场景分析</a:t>
            </a:r>
            <a:br/>
            <a:r>
              <a:t>从开发者玩具到生活基础设施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37160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CCDD"/>
                </a:solidFill>
                <a:latin typeface="Microsoft YaHei"/>
              </a:defRPr>
            </a:pPr>
            <a:r>
              <a:t>关键转折点：当安装一个技能像安装App一样简单时</a:t>
            </a:r>
            <a:br/>
            <a:r>
              <a:t>场景将指数级扩展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33E"/>
                </a:solidFill>
                <a:latin typeface="Microsoft YaHei"/>
              </a:defRPr>
            </a:pPr>
            <a:r>
              <a:t>当前使用场景分布（推测）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33E"/>
                </a:solidFill>
                <a:latin typeface="Microsoft YaHei"/>
              </a:defRPr>
            </a:pPr>
            <a:r>
              <a:t>开发/编程辅助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325880"/>
            <a:ext cx="5486400" cy="32004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1280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21D"/>
                </a:solidFill>
                <a:latin typeface="Microsoft YaHei"/>
              </a:defRPr>
            </a:pPr>
            <a:r>
              <a:t>35%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Claude Code会话管理、代码审查、自动化测试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33E"/>
                </a:solidFill>
                <a:latin typeface="Microsoft YaHei"/>
              </a:defRPr>
            </a:pPr>
            <a:r>
              <a:t>个人信息管理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148840"/>
            <a:ext cx="3918857" cy="32004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02137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21D"/>
                </a:solidFill>
                <a:latin typeface="Microsoft YaHei"/>
              </a:defRPr>
            </a:pPr>
            <a: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68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邮件管理、日历调度、航班值机、待办追踪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33E"/>
                </a:solidFill>
                <a:latin typeface="Microsoft YaHei"/>
              </a:defRPr>
            </a:pPr>
            <a:r>
              <a:t>知识管理与研究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971800"/>
            <a:ext cx="2351314" cy="32004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34594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F8A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91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网页抓取、信息整理、文档摘要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490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33E"/>
                </a:solidFill>
                <a:latin typeface="Microsoft YaHei"/>
              </a:defRPr>
            </a:pPr>
            <a:r>
              <a:t>智能家居/设备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794759"/>
            <a:ext cx="1567542" cy="32004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0822" y="37490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F8A"/>
                </a:solidFill>
                <a:latin typeface="Microsoft YaHei"/>
              </a:defRPr>
            </a:pPr>
            <a:r>
              <a:t>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11479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通过Node机制控制Mac/树莓派/智能设备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33E"/>
                </a:solidFill>
                <a:latin typeface="Microsoft YaHei"/>
              </a:defRPr>
            </a:pPr>
            <a:r>
              <a:t>创意与内容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4617720"/>
            <a:ext cx="1567542" cy="32004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0822" y="4572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F8A"/>
                </a:solidFill>
                <a:latin typeface="Microsoft YaHei"/>
              </a:defRPr>
            </a:pPr>
            <a: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937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写作辅助、TTS语音生成、图片处理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233E"/>
                </a:solidFill>
                <a:latin typeface="Microsoft YaHei"/>
              </a:defRPr>
            </a:pPr>
            <a:r>
              <a:t>团队协作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5440680"/>
            <a:ext cx="783771" cy="32004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7051" y="5394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F8A"/>
                </a:solidFill>
                <a:latin typeface="Microsoft YaHei"/>
              </a:defRPr>
            </a:pPr>
            <a:r>
              <a:t>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760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Discord/Slack群组中的团队AI助手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注：基于公开社交媒体帖子(50-80条)+产品功能页的定性推测，存在幸存者偏差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33E"/>
                </a:solidFill>
                <a:latin typeface="Microsoft YaHei"/>
              </a:defRPr>
            </a:pPr>
            <a:r>
              <a:t>五大长期趋势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01168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821D"/>
                </a:solidFill>
                <a:latin typeface="Microsoft YaHei"/>
              </a:defRPr>
            </a:pPr>
            <a:r>
              <a:t>趋势1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33E"/>
                </a:solidFill>
                <a:latin typeface="Microsoft YaHei"/>
              </a:defRPr>
            </a:pPr>
            <a:r>
              <a:t>非技术化迁移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从"帮我写代码"到"替我管生活"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371600"/>
            <a:ext cx="201168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8920" y="1371600"/>
            <a:ext cx="201168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821D"/>
                </a:solidFill>
                <a:latin typeface="Microsoft YaHei"/>
              </a:defRPr>
            </a:pPr>
            <a:r>
              <a:t>趋势2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011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33E"/>
                </a:solidFill>
                <a:latin typeface="Microsoft YaHei"/>
              </a:defRPr>
            </a:pPr>
            <a:r>
              <a:t>社会单元扩展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74320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从"单人助手"到"家庭/团队AI"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371600"/>
            <a:ext cx="201168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371600"/>
            <a:ext cx="201168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821D"/>
                </a:solidFill>
                <a:latin typeface="Microsoft YaHei"/>
              </a:defRPr>
            </a:pPr>
            <a:r>
              <a:t>趋势3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011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33E"/>
                </a:solidFill>
                <a:latin typeface="Microsoft YaHei"/>
              </a:defRPr>
            </a:pPr>
            <a:r>
              <a:t>交互消隐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74320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从"聊天交互"到"环境智能"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1371600"/>
            <a:ext cx="201168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1371600"/>
            <a:ext cx="201168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821D"/>
                </a:solidFill>
                <a:latin typeface="Microsoft YaHei"/>
              </a:defRPr>
            </a:pPr>
            <a:r>
              <a:t>趋势4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011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33E"/>
                </a:solidFill>
                <a:latin typeface="Microsoft YaHei"/>
              </a:defRPr>
            </a:pPr>
            <a:r>
              <a:t>Multi-Agent协同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74320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从一个AI到一支AI团队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371600"/>
            <a:ext cx="201168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09760" y="1371600"/>
            <a:ext cx="201168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821D"/>
                </a:solidFill>
                <a:latin typeface="Microsoft YaHei"/>
              </a:defRPr>
            </a:pPr>
            <a:r>
              <a:t>趋势5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011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33E"/>
                </a:solidFill>
                <a:latin typeface="Microsoft YaHei"/>
              </a:defRPr>
            </a:pPr>
            <a:r>
              <a:t>技能生态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74320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从封闭能力到开放市场(App Store模式)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33E"/>
                </a:solidFill>
                <a:latin typeface="Microsoft YaHei"/>
              </a:defRPr>
            </a:pPr>
            <a:r>
              <a:t>场景扩散路径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2560320" cy="32004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当前-2026H2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阶段1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技术早期采用者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编程 + 自动化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286000"/>
            <a:ext cx="2560320" cy="3200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2026H2-2027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阶段2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6576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高价值职业用户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信息管理 + 内容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286000"/>
            <a:ext cx="2560320" cy="32004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2027-2028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阶段3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576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家庭与团队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多用户 + 设备联动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2286000"/>
            <a:ext cx="2560320" cy="32004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468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2028+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阶段4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6576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大众基础设施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技能市场成熟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0821D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用户粘性与社区</a:t>
            </a:r>
            <a:br/>
            <a:r>
              <a:t>为什么用过的人回不去了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37160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CCDD"/>
                </a:solidFill>
                <a:latin typeface="Microsoft YaHei"/>
              </a:defRPr>
            </a:pPr>
            <a:r>
              <a:t>粘性不来自功能强大，而来自"关系深度"</a:t>
            </a:r>
            <a:br/>
            <a:r>
              <a:t>切换成本 ≈ 换掉一个了解你的同事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33E"/>
                </a:solidFill>
                <a:latin typeface="Microsoft YaHei"/>
              </a:defRPr>
            </a:pPr>
            <a:r>
              <a:t>5个核心粘性特质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33333"/>
                </a:solidFill>
                <a:latin typeface="Microsoft YaHei"/>
              </a:defRPr>
            </a:pPr>
            <a: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233E"/>
                </a:solidFill>
                <a:latin typeface="Microsoft YaHei"/>
              </a:defRPr>
            </a:pPr>
            <a:r>
              <a:t>自然存在感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在聊天App里</a:t>
            </a:r>
          </a:p>
          <a:p>
            <a:pPr algn="ctr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= 一直在那里</a:t>
            </a:r>
          </a:p>
          <a:p>
            <a:pPr algn="ctr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= 默认依赖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371600"/>
            <a:ext cx="201168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33333"/>
                </a:solidFill>
                <a:latin typeface="Microsoft YaHei"/>
              </a:defRPr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233E"/>
                </a:solidFill>
                <a:latin typeface="Microsoft YaHei"/>
              </a:defRPr>
            </a:pPr>
            <a:r>
              <a:t>记忆连续性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0175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信任 =</a:t>
            </a:r>
          </a:p>
          <a:p>
            <a:pPr algn="ctr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被理解 × 时间积累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371600"/>
            <a:ext cx="201168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33333"/>
                </a:solidFill>
                <a:latin typeface="Microsoft YaHei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2860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233E"/>
                </a:solidFill>
                <a:latin typeface="Microsoft YaHei"/>
              </a:defRPr>
            </a:pPr>
            <a:r>
              <a:t>主动执行力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0175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主动性是区分</a:t>
            </a:r>
          </a:p>
          <a:p>
            <a:pPr algn="ctr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"工具"和"同事"</a:t>
            </a:r>
          </a:p>
          <a:p>
            <a:pPr algn="ctr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的分水岭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371600"/>
            <a:ext cx="201168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33333"/>
                </a:solidFill>
                <a:latin typeface="Microsoft YaHei"/>
              </a:defRPr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2860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233E"/>
                </a:solidFill>
                <a:latin typeface="Microsoft YaHei"/>
              </a:defRPr>
            </a:pPr>
            <a:r>
              <a:t>数据主权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0175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控制感</a:t>
            </a:r>
          </a:p>
          <a:p>
            <a:pPr algn="ctr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是信任的前提</a:t>
            </a:r>
          </a:p>
          <a:p>
            <a:pPr algn="ctr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自托管 = 安全感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1371600"/>
            <a:ext cx="201168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33333"/>
                </a:solidFill>
                <a:latin typeface="Microsoft YaHei"/>
              </a:defRPr>
            </a:pPr>
            <a:r>
              <a:t>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2860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233E"/>
                </a:solidFill>
                <a:latin typeface="Microsoft YaHei"/>
              </a:defRPr>
            </a:pPr>
            <a:r>
              <a:t>个性化深度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01752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个性化 =</a:t>
            </a:r>
          </a:p>
          <a:p>
            <a:pPr algn="ctr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不可替代性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33E"/>
                </a:solidFill>
                <a:latin typeface="Microsoft YaHei"/>
              </a:defRPr>
            </a:pPr>
            <a:r>
              <a:t>切换成本构成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00584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33E"/>
                </a:solidFill>
                <a:latin typeface="Microsoft YaHei"/>
              </a:defRPr>
            </a:pPr>
            <a:r>
              <a:t>记忆迁移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日积月累的上下文无法导出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3333"/>
                </a:solidFill>
                <a:latin typeface="Microsoft YaHei"/>
              </a:defRPr>
            </a:pPr>
            <a:r>
              <a:t>🔴 极高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100584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33E"/>
                </a:solidFill>
                <a:latin typeface="Microsoft YaHei"/>
              </a:defRPr>
            </a:pPr>
            <a:r>
              <a:t>技能迁移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定制技能 = 专属能力库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821D"/>
                </a:solidFill>
                <a:latin typeface="Microsoft YaHei"/>
              </a:defRPr>
            </a:pPr>
            <a:r>
              <a:t>🔴 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200400"/>
            <a:ext cx="100584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33E"/>
                </a:solidFill>
                <a:latin typeface="Microsoft YaHei"/>
              </a:defRPr>
            </a:pPr>
            <a:r>
              <a:t>习惯重建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交互习惯+工作流程重构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337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821D"/>
                </a:solidFill>
                <a:latin typeface="Microsoft YaHei"/>
              </a:defRPr>
            </a:pPr>
            <a:r>
              <a:t>🔴 中高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206240"/>
            <a:ext cx="100584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33E"/>
                </a:solidFill>
                <a:latin typeface="Microsoft YaHei"/>
              </a:defRPr>
            </a:pPr>
            <a:r>
              <a:t>社交迁移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群组中的AI身份/人格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343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821D"/>
                </a:solidFill>
                <a:latin typeface="Microsoft YaHei"/>
              </a:defRPr>
            </a:pPr>
            <a:r>
              <a:t>🔴 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212080"/>
            <a:ext cx="1005840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33E"/>
                </a:solidFill>
                <a:latin typeface="Microsoft YaHei"/>
              </a:defRPr>
            </a:pPr>
            <a:r>
              <a:t>情感沉没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类似"换掉一个老朋友"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3333"/>
                </a:solidFill>
                <a:latin typeface="Microsoft YaHei"/>
              </a:defRPr>
            </a:pPr>
            <a:r>
              <a:t>🔴 极高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0821D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能力边界</a:t>
            </a:r>
            <a:br/>
            <a:r>
              <a:t>LLM的"物理学"与"外骨骼"策略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37160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CCDD"/>
                </a:solidFill>
                <a:latin typeface="Microsoft YaHei"/>
              </a:defRPr>
            </a:pPr>
            <a:r>
              <a:t>赢家不是"模型最强的"，而是"外骨骼最好的"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D233E"/>
                </a:solidFill>
                <a:latin typeface="Microsoft YaHei"/>
              </a:defRPr>
            </a:pPr>
            <a:r>
              <a:t>LLM能力边界量化（Claude Opus 4, 200+用例）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33E"/>
                </a:solidFill>
                <a:latin typeface="Microsoft YaHei"/>
              </a:defRPr>
            </a:pPr>
            <a:r>
              <a:t>执行链步骤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188720"/>
            <a:ext cx="32004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1325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✅ ≤4步 @95%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188720"/>
            <a:ext cx="3200400" cy="6400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325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62828"/>
                </a:solidFill>
                <a:latin typeface="Microsoft YaHei"/>
              </a:defRPr>
            </a:pPr>
            <a:r>
              <a:t>⚠️ 7+步 &lt;40%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33E"/>
                </a:solidFill>
                <a:latin typeface="Microsoft YaHei"/>
              </a:defRPr>
            </a:pPr>
            <a:r>
              <a:t>跨Turn记忆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057400"/>
            <a:ext cx="32004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194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✅ 同Turn 90%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057400"/>
            <a:ext cx="3200400" cy="6400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1945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62828"/>
                </a:solidFill>
                <a:latin typeface="Microsoft YaHei"/>
              </a:defRPr>
            </a:pPr>
            <a:r>
              <a:t>⚠️ 2+次 &lt;10%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33E"/>
                </a:solidFill>
                <a:latin typeface="Microsoft YaHei"/>
              </a:defRPr>
            </a:pPr>
            <a:r>
              <a:t>并行追踪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926080"/>
            <a:ext cx="32004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✅ ≤3 可靠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926080"/>
            <a:ext cx="3200400" cy="6400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62828"/>
                </a:solidFill>
                <a:latin typeface="Microsoft YaHei"/>
              </a:defRPr>
            </a:pPr>
            <a:r>
              <a:t>⚠️ 7+ 严重丢失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861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33E"/>
                </a:solidFill>
                <a:latin typeface="Microsoft YaHei"/>
              </a:defRPr>
            </a:pPr>
            <a:r>
              <a:t>规则遵从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794759"/>
            <a:ext cx="32004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393191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✅ ≤5条 @80%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794759"/>
            <a:ext cx="3200400" cy="6400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93191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62828"/>
                </a:solidFill>
                <a:latin typeface="Microsoft YaHei"/>
              </a:defRPr>
            </a:pPr>
            <a:r>
              <a:t>⚠️ 161条 &lt;5%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33E"/>
                </a:solidFill>
                <a:latin typeface="Microsoft YaHei"/>
              </a:defRPr>
            </a:pPr>
            <a:r>
              <a:t>自检能力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663440"/>
            <a:ext cx="32004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✅ 表面 80%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4663440"/>
            <a:ext cx="3200400" cy="6400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8006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62828"/>
                </a:solidFill>
                <a:latin typeface="Microsoft YaHei"/>
              </a:defRPr>
            </a:pPr>
            <a:r>
              <a:t>⚠️ 系统性 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33E"/>
                </a:solidFill>
                <a:latin typeface="Microsoft YaHei"/>
              </a:defRPr>
            </a:pPr>
            <a:r>
              <a:t>意图推理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5532120"/>
            <a:ext cx="32004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5669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✅ IC1-2 @95%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5532120"/>
            <a:ext cx="3200400" cy="6400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5669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62828"/>
                </a:solidFill>
                <a:latin typeface="Microsoft YaHei"/>
              </a:defRPr>
            </a:pPr>
            <a:r>
              <a:t>⚠️ IC5 @30%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21D"/>
                </a:solidFill>
                <a:latin typeface="Microsoft YaHei"/>
              </a:defRPr>
            </a:pPr>
            <a:r>
              <a:t>核心不等式：用户期望的任务复杂度 &gt;&gt; LLM裸奔的可靠区间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33E"/>
                </a:solidFill>
                <a:latin typeface="Microsoft YaHei"/>
              </a:defRPr>
            </a:pPr>
            <a:r>
              <a:t>"外骨骼"分层架构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058400" cy="86868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Layer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意图理解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LLM驱动，允许模糊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240280"/>
            <a:ext cx="9326880" cy="868680"/>
          </a:xfrm>
          <a:prstGeom prst="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Layer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任务规划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LLM辅助 + 模板库，半确定性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291839"/>
            <a:ext cx="8595360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33832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Layer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383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步骤执行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3832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程序化为主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4343400"/>
            <a:ext cx="7863840" cy="86868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Layer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验证与回滚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纯程序化，零LLM依赖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5394959"/>
            <a:ext cx="7132320" cy="86868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548639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Layer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54863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持久化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48639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纯确定性存储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↑ LLM依赖度高（允许模糊）          ↓ 确定性高（零容错）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0821D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未来展望</a:t>
            </a:r>
            <a:br/>
            <a:r>
              <a:t>路线图与关键风险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33E"/>
                </a:solidFill>
                <a:latin typeface="Microsoft YaHei"/>
              </a:defRPr>
            </a:pPr>
            <a:r>
              <a:t>发展路线图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45720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短期 2026H1-H2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286000"/>
            <a:ext cx="914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3-5个垂直场景极致可靠性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技能库100+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核心用户群建立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383280" cy="4572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中期 2027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79" y="2286000"/>
            <a:ext cx="914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6517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技能市场上线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家庭AI场景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企业轻量版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技能500+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383280" cy="4572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长期 2028+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2286000"/>
            <a:ext cx="914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个人AI操作系统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事实标准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FFFFFF"/>
                </a:solidFill>
                <a:latin typeface="Microsoft YaHei"/>
              </a:defRPr>
            </a:pPr>
            <a:r>
              <a:t>生态成熟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33E"/>
                </a:solidFill>
                <a:latin typeface="Microsoft YaHei"/>
              </a:defRPr>
            </a:pPr>
            <a:r>
              <a:t>关键风险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概率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影响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缓解策略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233E"/>
                </a:solidFill>
                <a:latin typeface="Microsoft YaHei"/>
              </a:defRPr>
            </a:pPr>
            <a:r>
              <a:t>模型能力跳变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21D"/>
                </a:solidFill>
                <a:latin typeface="Microsoft YaHei"/>
              </a:defRPr>
            </a:pPr>
            <a:r>
              <a:t>中 30-40%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3333"/>
                </a:solidFill>
                <a:latin typeface="Microsoft YaHei"/>
              </a:defRPr>
            </a:pPr>
            <a:r>
              <a:t>🔴 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48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外骨骼转型为可靠性增强层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46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233E"/>
                </a:solidFill>
                <a:latin typeface="Microsoft YaHei"/>
              </a:defRPr>
            </a:pPr>
            <a:r>
              <a:t>大厂封闭生态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46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21D"/>
                </a:solidFill>
                <a:latin typeface="Microsoft YaHei"/>
              </a:defRPr>
            </a:pPr>
            <a:r>
              <a:t>高 60-70%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46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3333"/>
                </a:solidFill>
                <a:latin typeface="Microsoft YaHei"/>
              </a:defRPr>
            </a:pPr>
            <a:r>
              <a:t>🔴 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开放生态差异化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105156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43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233E"/>
                </a:solidFill>
                <a:latin typeface="Microsoft YaHei"/>
              </a:defRPr>
            </a:pPr>
            <a:r>
              <a:t>技术门槛限制增长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21D"/>
                </a:solidFill>
                <a:latin typeface="Microsoft YaHei"/>
              </a:defRPr>
            </a:pPr>
            <a:r>
              <a:t>高 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343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3333"/>
                </a:solidFill>
                <a:latin typeface="Microsoft YaHei"/>
              </a:defRPr>
            </a:pPr>
            <a:r>
              <a:t>🔴 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343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一键安装 + 预配置硬件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0821D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对vivo的启示</a:t>
            </a:r>
            <a:br/>
            <a:r>
              <a:t>"AI硬件伴侣"——被忽视的路径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37160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CCDD"/>
                </a:solidFill>
                <a:latin typeface="Microsoft YaHei"/>
              </a:defRPr>
            </a:pPr>
            <a:r>
              <a:t>不是在手机里加AI功能</a:t>
            </a:r>
            <a:br/>
            <a:r>
              <a:t>而是做独立的"AI硬件伴侣"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33E"/>
                </a:solidFill>
                <a:latin typeface="Microsoft YaHei"/>
              </a:defRPr>
            </a:pPr>
            <a:r>
              <a:t>市场规模——为什么现在必须行动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0821D"/>
                </a:solidFill>
                <a:latin typeface="Microsoft YaHei"/>
              </a:defRPr>
            </a:pPr>
            <a:r>
              <a:t>$182.97B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AI Agent市场 2033年规模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6459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0821D"/>
                </a:solidFill>
                <a:latin typeface="Microsoft YaHei"/>
              </a:defRPr>
            </a:pPr>
            <a:r>
              <a:t>49.6%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651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CAGR 年复合增长率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459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0821D"/>
                </a:solidFill>
                <a:latin typeface="Microsoft YaHei"/>
              </a:defRPr>
            </a:pPr>
            <a:r>
              <a:t>$143.06B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51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边缘AI市场 2034年规模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840480"/>
            <a:ext cx="10058400" cy="127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33E"/>
                </a:solidFill>
                <a:latin typeface="Microsoft YaHei"/>
              </a:defRPr>
            </a:pPr>
            <a:r>
              <a:t>AI Agent市场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$7.63B (2025) → $182.97B (2033)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21D"/>
                </a:solidFill>
                <a:latin typeface="Microsoft YaHei"/>
              </a:defRPr>
            </a:pPr>
            <a:r>
              <a:t>CAGR 49.6%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233E"/>
                </a:solidFill>
                <a:latin typeface="Microsoft YaHei"/>
              </a:defRPr>
            </a:pPr>
            <a:r>
              <a:t>边缘AI市场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$25.65B (2025) → $143.06B (2034)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821D"/>
                </a:solidFill>
                <a:latin typeface="Microsoft YaHei"/>
              </a:defRPr>
            </a:pPr>
            <a:r>
              <a:t>CAGR 21.04%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821D"/>
                </a:solidFill>
                <a:latin typeface="Microsoft YaHei"/>
              </a:defRPr>
            </a:pPr>
            <a:r>
              <a:t>⏰ 窗口期：12-18个月（推测）  |  💰 MVP投资：¥3000-5000万（推测）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33E"/>
                </a:solidFill>
                <a:latin typeface="Microsoft YaHei"/>
              </a:defRPr>
            </a:pPr>
            <a:r>
              <a:t>vivo独特优势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333333"/>
                </a:solidFill>
                <a:latin typeface="Microsoft YaHei"/>
              </a:defRPr>
            </a:pPr>
            <a:r>
              <a:t>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1">
                <a:solidFill>
                  <a:srgbClr val="0D233E"/>
                </a:solidFill>
                <a:latin typeface="Microsoft YaHei"/>
              </a:defRPr>
            </a:pPr>
            <a:r>
              <a:t>OriginOS</a:t>
            </a:r>
          </a:p>
          <a:p>
            <a:pPr algn="ctr">
              <a:spcAft>
                <a:spcPts val="660"/>
              </a:spcAft>
              <a:defRPr sz="2200" b="1">
                <a:solidFill>
                  <a:srgbClr val="0D233E"/>
                </a:solidFill>
                <a:latin typeface="Microsoft YaHei"/>
              </a:defRPr>
            </a:pPr>
            <a:r>
              <a:t>系统级权限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04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不可复制的</a:t>
            </a:r>
          </a:p>
          <a:p>
            <a:pPr algn="ctr">
              <a:spcAft>
                <a:spcPts val="480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底层能力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371600"/>
            <a:ext cx="256032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333333"/>
                </a:solidFill>
                <a:latin typeface="Microsoft YaHei"/>
              </a:defRPr>
            </a:pPr>
            <a:r>
              <a:t>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603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1">
                <a:solidFill>
                  <a:srgbClr val="0D233E"/>
                </a:solidFill>
                <a:latin typeface="Microsoft YaHei"/>
              </a:defRPr>
            </a:pPr>
            <a:r>
              <a:t>硬件设计</a:t>
            </a:r>
          </a:p>
          <a:p>
            <a:pPr algn="ctr">
              <a:spcAft>
                <a:spcPts val="660"/>
              </a:spcAft>
              <a:defRPr sz="2200" b="1">
                <a:solidFill>
                  <a:srgbClr val="0D233E"/>
                </a:solidFill>
                <a:latin typeface="Microsoft YaHei"/>
              </a:defRPr>
            </a:pPr>
            <a:r>
              <a:t>供应链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8404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纯软件公司</a:t>
            </a:r>
          </a:p>
          <a:p>
            <a:pPr algn="ctr">
              <a:spcAft>
                <a:spcPts val="480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无法匹敌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25603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256032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333333"/>
                </a:solidFill>
                <a:latin typeface="Microsoft YaHei"/>
              </a:defRPr>
            </a:pPr>
            <a: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5603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1">
                <a:solidFill>
                  <a:srgbClr val="0D233E"/>
                </a:solidFill>
                <a:latin typeface="Microsoft YaHei"/>
              </a:defRPr>
            </a:pPr>
            <a:r>
              <a:t>4亿+</a:t>
            </a:r>
          </a:p>
          <a:p>
            <a:pPr algn="ctr">
              <a:spcAft>
                <a:spcPts val="660"/>
              </a:spcAft>
              <a:defRPr sz="2200" b="1">
                <a:solidFill>
                  <a:srgbClr val="0D233E"/>
                </a:solidFill>
                <a:latin typeface="Microsoft YaHei"/>
              </a:defRPr>
            </a:pPr>
            <a:r>
              <a:t>存量用户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8404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线下渠道</a:t>
            </a:r>
          </a:p>
          <a:p>
            <a:pPr algn="ctr">
              <a:spcAft>
                <a:spcPts val="480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触达能力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5603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56032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333333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5603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1">
                <a:solidFill>
                  <a:srgbClr val="0D233E"/>
                </a:solidFill>
                <a:latin typeface="Microsoft YaHei"/>
              </a:defRPr>
            </a:pPr>
            <a:r>
              <a:t>品牌</a:t>
            </a:r>
          </a:p>
          <a:p>
            <a:pPr algn="ctr">
              <a:spcAft>
                <a:spcPts val="660"/>
              </a:spcAft>
              <a:defRPr sz="2200" b="1">
                <a:solidFill>
                  <a:srgbClr val="0D233E"/>
                </a:solidFill>
                <a:latin typeface="Microsoft YaHei"/>
              </a:defRPr>
            </a:pPr>
            <a:r>
              <a:t>AI空白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8404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定义窗口</a:t>
            </a:r>
          </a:p>
          <a:p>
            <a:pPr algn="ctr">
              <a:spcAft>
                <a:spcPts val="480"/>
              </a:spcAft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先发优势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33E"/>
                </a:solidFill>
                <a:latin typeface="Microsoft YaHei"/>
              </a:defRPr>
            </a:pPr>
            <a:r>
              <a:t>两个产品概念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029200" cy="635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821D"/>
                </a:solidFill>
                <a:latin typeface="Microsoft YaHei"/>
              </a:defRPr>
            </a:pPr>
            <a:r>
              <a:t>💼 AI办公搭子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33E"/>
                </a:solidFill>
                <a:latin typeface="Microsoft YaHei"/>
              </a:defRPr>
            </a:pPr>
            <a:r>
              <a:t>桌面AI助手盒子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821D"/>
                </a:solidFill>
                <a:latin typeface="Microsoft YaHei"/>
              </a:defRPr>
            </a:pPr>
            <a:r>
              <a:t>¥999 - 2,999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▸ 日程管理与智能提醒</a:t>
            </a:r>
          </a:p>
          <a:p>
            <a:pPr>
              <a:spcAft>
                <a:spcPts val="64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▸ 邮件处理与自动回复</a:t>
            </a:r>
          </a:p>
          <a:p>
            <a:pPr>
              <a:spcAft>
                <a:spcPts val="64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▸ 会议纪要与任务分发</a:t>
            </a:r>
          </a:p>
          <a:p>
            <a:pPr>
              <a:spcAft>
                <a:spcPts val="64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▸ 文档搜索与知识管理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5029200" cy="635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D233E"/>
                </a:solidFill>
                <a:latin typeface="Microsoft YaHei"/>
              </a:defRPr>
            </a:pPr>
            <a:r>
              <a:t>🏠 AI家庭搭子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233E"/>
                </a:solidFill>
                <a:latin typeface="Microsoft YaHei"/>
              </a:defRPr>
            </a:pPr>
            <a:r>
              <a:t>家庭AI中枢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560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233E"/>
                </a:solidFill>
                <a:latin typeface="Microsoft YaHei"/>
              </a:defRPr>
            </a:pPr>
            <a:r>
              <a:t>¥1,499 - 3,999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2004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▸ 家庭日程协调与提醒</a:t>
            </a:r>
          </a:p>
          <a:p>
            <a:pPr>
              <a:spcAft>
                <a:spcPts val="64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▸ 智能家居设备联动</a:t>
            </a:r>
          </a:p>
          <a:p>
            <a:pPr>
              <a:spcAft>
                <a:spcPts val="64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▸ 孩子学习辅助与监护</a:t>
            </a:r>
          </a:p>
          <a:p>
            <a:pPr>
              <a:spcAft>
                <a:spcPts val="64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▸ 家庭信息枢纽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D233E"/>
                </a:solidFill>
                <a:latin typeface="Microsoft YaHei"/>
              </a:defRPr>
            </a:pPr>
            <a:r>
              <a:t>三步走 + Go/No-Go 门禁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383280" cy="50292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P0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0-6月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POC原型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108960"/>
            <a:ext cx="914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DD"/>
                </a:solidFill>
                <a:latin typeface="Microsoft YaHei"/>
              </a:defRPr>
            </a:pPr>
            <a:r>
              <a:t>Go/No-Go 门禁: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✓ NPS ≥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✓ 任务成功率 ≥ 85%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1188720"/>
            <a:ext cx="3383280" cy="5029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371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6-12月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MVP灰度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79" y="3108960"/>
            <a:ext cx="914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DD"/>
                </a:solidFill>
                <a:latin typeface="Microsoft YaHei"/>
              </a:defRPr>
            </a:pPr>
            <a:r>
              <a:t>Go/No-Go 门禁: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840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✓ 30日留存 ≥ 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✓ 退货率 &lt; 15%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188720"/>
            <a:ext cx="3383280" cy="5029200"/>
          </a:xfrm>
          <a:prstGeom prst="rect">
            <a:avLst/>
          </a:prstGeom>
          <a:solidFill>
            <a:srgbClr val="0D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371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12-24月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468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规模化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3108960"/>
            <a:ext cx="914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DDDD"/>
                </a:solidFill>
                <a:latin typeface="Microsoft YaHei"/>
              </a:defRPr>
            </a:pPr>
            <a:r>
              <a:t>Go/No-Go 门禁: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840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✓ 年出货 ≥ 50万台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297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✓ 生态技能 200+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474720"/>
            <a:ext cx="1828800" cy="50800"/>
          </a:xfrm>
          <a:prstGeom prst="rect">
            <a:avLst/>
          </a:prstGeom>
          <a:solidFill>
            <a:srgbClr val="F08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99AA"/>
                </a:solidFill>
                <a:latin typeface="Microsoft YaHei"/>
              </a:defRPr>
            </a:pPr>
            <a:r>
              <a:t>OpenClaw · The AI that actually does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7788"/>
                </a:solidFill>
                <a:latin typeface="Microsoft YaHei"/>
              </a:defRPr>
            </a:pPr>
            <a:r>
              <a:t>V3b · 2026年3月 · Claude Opus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